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  <p:sldId id="267" r:id="rId7"/>
    <p:sldId id="264" r:id="rId8"/>
    <p:sldId id="265" r:id="rId9"/>
    <p:sldId id="266" r:id="rId10"/>
    <p:sldId id="268" r:id="rId11"/>
    <p:sldId id="270" r:id="rId12"/>
    <p:sldId id="271" r:id="rId13"/>
    <p:sldId id="27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38F54-B272-4D13-90EF-11C21ABF3CF3}" v="17" dt="2026-02-05T17:49:59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10" y="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2000" t="-2000" b="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31B98-7DAA-4F67-B12F-4F673C8BF44F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/>
        </p:nvSpPr>
        <p:spPr>
          <a:xfrm>
            <a:off x="228599" y="571500"/>
            <a:ext cx="11707761" cy="6019800"/>
          </a:xfrm>
          <a:prstGeom prst="rect">
            <a:avLst/>
          </a:prstGeom>
          <a:noFill/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17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BACHELOR OF TECHNOLOGY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17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17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1700" b="1" dirty="0">
              <a:solidFill>
                <a:srgbClr val="00206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	</a:t>
            </a:r>
            <a:r>
              <a:rPr lang="en-US" sz="22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Section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Aiml-Omega</a:t>
            </a:r>
          </a:p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Project Title 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Lexi: The Legal Aid Assistant and Analysis Platform Using</a:t>
            </a:r>
          </a:p>
          <a:p>
            <a:pPr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Hybrid Machine Learning Models</a:t>
            </a:r>
            <a:endParaRPr lang="en-US" sz="2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2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Batch Number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 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Batch-</a:t>
            </a:r>
            <a:r>
              <a:rPr lang="en-US" sz="25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136</a:t>
            </a:r>
          </a:p>
          <a:p>
            <a:pPr algn="ctr">
              <a:buNone/>
            </a:pPr>
            <a:r>
              <a:rPr lang="en-US" sz="25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Roll Numbers </a:t>
            </a:r>
            <a:r>
              <a:rPr lang="en-US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2211CS020562</a:t>
            </a:r>
          </a:p>
          <a:p>
            <a:pPr algn="ctr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2211CS020583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	                      2211CS020584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2211CS020596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7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					 			                </a:t>
            </a:r>
            <a:r>
              <a:rPr lang="en-US" sz="25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Project Guide </a:t>
            </a:r>
            <a:r>
              <a:rPr lang="en-US" sz="17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K. Divya Bharathi 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</a:p>
          <a:p>
            <a:pPr>
              <a:buNone/>
            </a:pPr>
            <a:endParaRPr 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2200" b="1" dirty="0">
              <a:solidFill>
                <a:srgbClr val="7030A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AIML, School of Engineering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1700" b="1" dirty="0" err="1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Malla</a:t>
            </a:r>
            <a:r>
              <a:rPr lang="en-US" sz="1700" b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Reddy University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26" name="Picture 2" descr="No photo description availa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854" y="4607069"/>
            <a:ext cx="1402266" cy="10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457200" y="1143000"/>
            <a:ext cx="8229600" cy="28971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CONTENTS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423081" y="1432719"/>
            <a:ext cx="10081846" cy="526464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4400" dirty="0"/>
              <a:t> INTRODUCTION:</a:t>
            </a:r>
            <a:endParaRPr lang="en-IN" sz="4400" dirty="0"/>
          </a:p>
          <a:p>
            <a:pPr lvl="1"/>
            <a:r>
              <a:rPr lang="en-US" sz="4400" dirty="0"/>
              <a:t>Objective of project</a:t>
            </a:r>
            <a:endParaRPr lang="en-IN" sz="4400" dirty="0"/>
          </a:p>
          <a:p>
            <a:pPr lvl="1"/>
            <a:r>
              <a:rPr lang="en-US" sz="4400" dirty="0"/>
              <a:t>Scope of the project</a:t>
            </a:r>
          </a:p>
          <a:p>
            <a:pPr lvl="0"/>
            <a:r>
              <a:rPr lang="en-US" sz="4400" dirty="0"/>
              <a:t>ANALYSIS:</a:t>
            </a:r>
          </a:p>
          <a:p>
            <a:pPr lvl="1"/>
            <a:r>
              <a:rPr lang="en-US" sz="4400" dirty="0"/>
              <a:t>Literature Survey( Min 8 Papers)</a:t>
            </a:r>
          </a:p>
          <a:p>
            <a:pPr lvl="1"/>
            <a:r>
              <a:rPr lang="en-US" sz="4400" dirty="0"/>
              <a:t>Problem Definition</a:t>
            </a:r>
            <a:endParaRPr lang="en-IN" sz="4400" dirty="0"/>
          </a:p>
          <a:p>
            <a:pPr lvl="1"/>
            <a:r>
              <a:rPr lang="en-US" sz="4400" dirty="0"/>
              <a:t>Project Planning and Research</a:t>
            </a:r>
            <a:endParaRPr lang="en-IN" sz="4400" dirty="0"/>
          </a:p>
          <a:p>
            <a:pPr lvl="1"/>
            <a:r>
              <a:rPr lang="en-US" sz="4400" dirty="0"/>
              <a:t>Software requirement specification</a:t>
            </a:r>
            <a:endParaRPr lang="en-IN" sz="4400" dirty="0"/>
          </a:p>
          <a:p>
            <a:pPr lvl="2"/>
            <a:r>
              <a:rPr lang="en-US" sz="4400" dirty="0"/>
              <a:t>Software requirements</a:t>
            </a:r>
            <a:endParaRPr lang="en-IN" sz="4400" dirty="0"/>
          </a:p>
          <a:p>
            <a:pPr lvl="2"/>
            <a:r>
              <a:rPr lang="en-US" sz="4400" dirty="0"/>
              <a:t>Hardware requirements</a:t>
            </a:r>
            <a:endParaRPr lang="en-IN" sz="4400" dirty="0"/>
          </a:p>
          <a:p>
            <a:pPr lvl="1"/>
            <a:r>
              <a:rPr lang="en-US" sz="4400" dirty="0"/>
              <a:t>Model Selection and Architecture    </a:t>
            </a:r>
            <a:endParaRPr lang="en-IN" sz="4400" dirty="0"/>
          </a:p>
          <a:p>
            <a:pPr lvl="0"/>
            <a:r>
              <a:rPr lang="en-US" sz="4400" dirty="0"/>
              <a:t>DESIGN:</a:t>
            </a:r>
            <a:endParaRPr lang="en-IN" sz="4400" dirty="0"/>
          </a:p>
          <a:p>
            <a:pPr lvl="1"/>
            <a:r>
              <a:rPr lang="en-US" sz="4400" dirty="0"/>
              <a:t>Diagrams(Related to Project Details Whatever Applicable See the Guidelines)</a:t>
            </a:r>
            <a:endParaRPr lang="en-IN" sz="4400" dirty="0"/>
          </a:p>
          <a:p>
            <a:pPr lvl="1"/>
            <a:r>
              <a:rPr lang="en-US" sz="4400" dirty="0"/>
              <a:t>Data Set Descriptions</a:t>
            </a:r>
            <a:endParaRPr lang="en-IN" sz="4400" dirty="0"/>
          </a:p>
          <a:p>
            <a:pPr lvl="1"/>
            <a:r>
              <a:rPr lang="en-US" sz="4400" dirty="0"/>
              <a:t>Data Preprocessing Techniques</a:t>
            </a:r>
            <a:endParaRPr lang="en-IN" sz="4400" dirty="0"/>
          </a:p>
          <a:p>
            <a:pPr lvl="1"/>
            <a:r>
              <a:rPr lang="en-US" sz="4400" dirty="0"/>
              <a:t>Methods &amp; Algorithms </a:t>
            </a:r>
          </a:p>
          <a:p>
            <a:r>
              <a:rPr lang="en-US" sz="4400" dirty="0"/>
              <a:t>References:</a:t>
            </a:r>
            <a:endParaRPr lang="en-I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ABB5-E571-F680-45EA-A0E168BA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4948"/>
            <a:ext cx="10515600" cy="279917"/>
          </a:xfrm>
        </p:spPr>
        <p:txBody>
          <a:bodyPr>
            <a:noAutofit/>
          </a:bodyPr>
          <a:lstStyle/>
          <a:p>
            <a:pPr lvl="0"/>
            <a:r>
              <a:rPr lang="en-US" sz="3000" dirty="0"/>
              <a:t>INTRODUCTION: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C9AC-F505-6BBB-FFBB-0B60943F6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7840"/>
            <a:ext cx="10515600" cy="440912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project:-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legal assistance and analysis system capable of processing and understanding legal documents and complaints with minimal human intervention.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dependence on manual legal interpretation by professionals and minimize errors caused by complexity, subjectivity, and lack of legal awareness among users.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transformer-based deep learning and machine learning classification techniques to achieve accurate legal domain identification and reliable case severity assessment.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extract key legal entities, relevant statutes, and important clauses from legal documents and highlight critical information for better interpretation.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simplified legal summaries, professional legal documents, and appropriate lawyer recommendations to support informed legal decision-making and timely action.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fast, reliable, and consistent legal insights that assist individuals and legal professionals in understanding cases, prioritizing actions, and improving access to justice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46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FC53-6560-E266-3A95-4E30E5C2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0480"/>
            <a:ext cx="10419080" cy="525144"/>
          </a:xfrm>
        </p:spPr>
        <p:txBody>
          <a:bodyPr>
            <a:normAutofit fontScale="90000"/>
          </a:bodyPr>
          <a:lstStyle/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project:-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28DF-D4E2-1E8D-2301-C44B943F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20" y="1666240"/>
            <a:ext cx="10419080" cy="451072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the automated analysis of legal documents and legal complaints as the primary input data.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covers the complete processing pipeline, starting from legal text extraction and preprocessing to semantic analysis, classification, and response generation.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feature extraction using a pre-trained transformer-based legal language model and classification using an efficient machine learning classifier.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entity recognition, statute identification, clause extraction, and case severity assessment are included to provide meaningful legal insights beyond basic document understanding.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designed to operate efficiently on moderate hardware systems, making it suitable for real-world deployment in legal assistance environments.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acts as a decision-support tool for individuals and legal professionals, aiding in legal understanding, case prioritization, and informed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1598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D6C9-4859-8952-43DE-660426A8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280"/>
            <a:ext cx="10515600" cy="59340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3712-1BBC-116B-3F3D-44663F9A5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Project Identification / Problem Definition:-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systems involve complex language and procedures that require accurate interpretation for effective decision-making.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legal documents by individuals or legal professionals is time-consuming and may lead to misunderstandings due to complexity, subjectivity, and varying levels of legal expertise.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systems and generic search platforms rely on keyword matching and lack robust contextual understanding of legal text.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AI-based legal systems provide improved accuracy but often require large domain-specific datasets and high computational resources, limiting their scalability and accessibility.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accurate, and computationally efficient system to analyze legal documents and simplify legal information.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hybrid machine learning-based legal assistance platform that combines deep semantic feature extraction and efficient classification to support informed legal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5067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2A6F-ABA6-279E-1A5E-869E7B3E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1644969"/>
            <a:ext cx="10601960" cy="45719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and Research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40BC-B800-B133-5046-F500E0F7A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Conducted an initial study on legal assistance systems, legal document analysis, and the challenges involved in understanding complex legal language.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Reviewed existing research papers on traditional rule-based systems, machine learning approaches, transformer-based models, and hybrid AI techniques used in the legal domain.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Analyzed the limitations of existing legal information systems, such as generic responses, lack of contextual understanding, high dependency on legal experts, and limited automation.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Selected a hybrid machine learning approach after comparing the accuracy, efficiency, and scalability of transformer-based models and classical classification techniques.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Identified suitable legal datasets, pre-trained legal language models, and preprocessing methods required for effective legal text analysis and classification.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Planned the project in structured phases, including system design, document processing pipeline development, model integration, testing, and performance evaluation.</a:t>
            </a:r>
          </a:p>
        </p:txBody>
      </p:sp>
    </p:spTree>
    <p:extLst>
      <p:ext uri="{BB962C8B-B14F-4D97-AF65-F5344CB8AC3E}">
        <p14:creationId xmlns:p14="http://schemas.microsoft.com/office/powerpoint/2010/main" val="237332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8B8C-173A-2AE8-8876-FE2ED37D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644969"/>
            <a:ext cx="10591800" cy="45719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specification:-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45D6-966F-52F0-FE7B-8230090F6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requirement:-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10/11 or Ubuntu 20.04.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 or above.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transformer-based legal language models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Library: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for Multilayer Perceptron (MLP) classification.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legal text preprocessing and entity recognition.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Retrieval Frameworks: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retrieval and RAG implementation.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for user and application data management.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&amp; Communication Tools: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PyPDFLoader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Docx2txtLoader,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SMTP for document processing, PDF generation, and email automation.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04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D388-14B9-133A-75ED-BCF0588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4969"/>
            <a:ext cx="10515600" cy="45719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2.Hardware requirement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3F7B-D4E9-6384-234C-9C53D08A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 processor or equivalent capable of handling legal text processing, semantic analysis, and model execution tasks.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of 8 GB RAM to ensure smooth document preprocessing, embedding generation, and classification operations.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Drive (SSD) with at least 256 GB storage for legal documents, embeddings, models, and generated outputs.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NVIDIA GPU support to accelerate model inference and large-scale document processing, while still allowing efficient CPU-based execution.</a:t>
            </a:r>
          </a:p>
        </p:txBody>
      </p:sp>
    </p:spTree>
    <p:extLst>
      <p:ext uri="{BB962C8B-B14F-4D97-AF65-F5344CB8AC3E}">
        <p14:creationId xmlns:p14="http://schemas.microsoft.com/office/powerpoint/2010/main" val="355624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0B9D-B05C-DA97-0340-11E3E03E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8880"/>
            <a:ext cx="10515600" cy="491808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Selection:-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660B-B922-4613-65F5-2EE11F47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machine learning approach is selected to balance semantic accuracy and computational efficiency in legal document analysis.</a:t>
            </a: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pre-trained transformer-based language model, is chosen for feature extraction due to its strong performance in understanding legal language and domain-specific terminology.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effectively captures important linguistic and contextual features such as legal entities, clause semantics, statutory references, and long-range dependencies from legal text.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Multilayer Perceptron (MLP) is selected as the classifier because of its robustness in handling high-dimensional contextual embeddings generated by transformer models.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deep learning for semantic feature extraction and machine learning for classification improves prediction accuracy while reducing computational and hardware dependency.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hybrid model is well-suited for legal text analysis tasks and can operate efficiently on moderate hardware systems, making it suitable for real-world legal assistance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2312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79EF-6333-2C8E-D420-315A751C3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7760"/>
            <a:ext cx="10515600" cy="562928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Architecture:-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9CFD0A-3BC5-7ACE-8D6C-5B9254C9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23" y="1690688"/>
            <a:ext cx="1066897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9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CEBA-FE71-E61C-A634-0BB72D8C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80" y="1548882"/>
            <a:ext cx="10598020" cy="141806"/>
          </a:xfrm>
        </p:spPr>
        <p:txBody>
          <a:bodyPr>
            <a:normAutofit fontScale="90000"/>
          </a:bodyPr>
          <a:lstStyle/>
          <a:p>
            <a:r>
              <a:rPr lang="en-US" sz="3500" dirty="0"/>
              <a:t>DESIGN: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BFFC6-4E1A-E196-FB43-F90A3947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FlowChart</a:t>
            </a:r>
            <a:r>
              <a:rPr lang="en-US" dirty="0"/>
              <a:t>:-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CC6AB-C44A-3A93-33AC-4B07B6577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645" y="1548882"/>
            <a:ext cx="5197231" cy="53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8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5866-6AAB-2ADC-24C3-C309E65C4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68" y="1520890"/>
            <a:ext cx="10448731" cy="169798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DA8A0-4A07-6A8D-72D2-F659E1362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84988"/>
            <a:ext cx="10515598" cy="4991975"/>
          </a:xfrm>
        </p:spPr>
        <p:txBody>
          <a:bodyPr/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Descriptions:-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does not rely on training a model from scratch using a large custom dataset. Instead, it utilizes pre-trained legal language models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trained on extensive legal corpora and capture domain-specific legal knowledge.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User-provided legal documents, including complaints, contracts, agreements, and notices, serve as input data for analysis and evaluation.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documents are used dynamically for semantic understanding, classification, and retrieval-based processing rather than traditional supervised dataset training.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Techniques:-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legal documents are converted into plain text and cleaned through tokenization and normalization.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documents are split into smaller chunks and transformed into contextual embeddings using pre-trained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InLegalBERT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domain and case severity labels are encoded into numerical format for classification.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93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D2DC-B7BF-0856-B710-C5493186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49" y="1614196"/>
            <a:ext cx="10607351" cy="76492"/>
          </a:xfrm>
        </p:spPr>
        <p:txBody>
          <a:bodyPr>
            <a:normAutofit fontScale="90000"/>
          </a:bodyPr>
          <a:lstStyle/>
          <a:p>
            <a:r>
              <a:rPr lang="en-US" sz="3900" dirty="0"/>
              <a:t>Methods &amp; Algorithms 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93D7-CF8C-EEE2-3DF3-FFF20F54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324" y="1690688"/>
            <a:ext cx="10515600" cy="480264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InLegalBERT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LegalBERT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pre-trained legal transformer model is used to extract semantic features from legal text without training from scratch.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Feature Extraction: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Contextual embeddings representing legal terminology, clauses, and relationships are generated from input documents.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Classification: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Multilayer Perceptron classifier performs legal domain classification and case severity prediction using extracted embeddings.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Augmented Generation (RAG):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legal document chunks are retrieved from a vector database to ground AI-generated responses in source documents.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3.2):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locally deployed large language model generates accurate, context-aware legal responses using retrieved information.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 Extraction &amp; NER: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legal clauses and entities such as parties, statutes, and dates are identified using transformer-based analysis.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Generation &amp; Email Automation: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Legal documents are generated, converted to PDF, and delivered through automated email communication.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is evaluated using Accuracy, Precision, Recall, F1-Score,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14222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ABAD-0A0F-B0CD-0D59-1D4AE917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9ECD-327A-41F5-AB4C-6CFEF15B3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820" y="2952749"/>
            <a:ext cx="5943600" cy="116586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8000" i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298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1443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Bookman Old Style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INTRODUCTION:</vt:lpstr>
      <vt:lpstr>Scope of the project:-  </vt:lpstr>
      <vt:lpstr>ANALYSIS:</vt:lpstr>
      <vt:lpstr>Project Planning and Research </vt:lpstr>
      <vt:lpstr>Software requirement specification:- </vt:lpstr>
      <vt:lpstr>2.Hardware requirement </vt:lpstr>
      <vt:lpstr>Model Selection:-</vt:lpstr>
      <vt:lpstr>Architecture:-</vt:lpstr>
      <vt:lpstr>DESIGN: </vt:lpstr>
      <vt:lpstr> </vt:lpstr>
      <vt:lpstr>Methods &amp; Algorithms 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Omkar Jagan</dc:creator>
  <cp:lastModifiedBy>manoj kumar</cp:lastModifiedBy>
  <cp:revision>44</cp:revision>
  <dcterms:created xsi:type="dcterms:W3CDTF">2023-03-16T15:58:00Z</dcterms:created>
  <dcterms:modified xsi:type="dcterms:W3CDTF">2026-02-05T17:52:04Z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9943EE0BB0574A3CB446BCEBADAA39C7_13</vt:lpwstr>
  </property>
  <property fmtid="{D5CDD505-2E9C-101B-9397-08002B2CF9AE}" pid="3" name="KSOProductBuildVer">
    <vt:lpwstr>1033-12.2.0.16909</vt:lpwstr>
  </property>
</Properties>
</file>